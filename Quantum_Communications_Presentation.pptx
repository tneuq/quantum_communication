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29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2.xml" ContentType="application/vnd.openxmlformats-officedocument.presentationml.slide+xml"/>
  <Override PartName="/ppt/slides/slide25.xml" ContentType="application/vnd.openxmlformats-officedocument.presentationml.slide+xml"/>
  <Override PartName="/ppt/slides/slide21.xml" ContentType="application/vnd.openxmlformats-officedocument.presentationml.slide+xml"/>
  <Override PartName="/ppt/slides/slide28.xml" ContentType="application/vnd.openxmlformats-officedocument.presentationml.slide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s/slide11.xml" ContentType="application/vnd.openxmlformats-officedocument.presentationml.slide+xml"/>
  <Override PartName="/ppt/slides/slide13.xml" ContentType="application/vnd.openxmlformats-officedocument.presentationml.slide+xml"/>
  <Override PartName="/ppt/slides/slide4.xml" ContentType="application/vnd.openxmlformats-officedocument.presentationml.slide+xml"/>
  <Override PartName="/ppt/slides/slide9.xml" ContentType="application/vnd.openxmlformats-officedocument.presentationml.slide+xml"/>
  <Override PartName="/ppt/slides/slide31.xml" ContentType="application/vnd.openxmlformats-officedocument.presentationml.slide+xml"/>
  <Override PartName="/ppt/slides/slide24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1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10.xml" ContentType="application/vnd.openxmlformats-officedocument.presentationml.slide+xml"/>
  <Override PartName="/ppt/slides/slide23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6.xml" ContentType="application/vnd.openxmlformats-officedocument.presentationml.slide+xml"/>
  <Override PartName="/ppt/slides/slide15.xml" ContentType="application/vnd.openxmlformats-officedocument.presentationml.slide+xml"/>
  <Override PartName="/ppt/slides/slide6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</p:sldIdLst>
  <p:sldSz cx="9144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erif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erif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6D1F780-A7C6-4D1D-A9D9-89DF9080DCD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32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erif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erif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761B774-6D68-4264-924E-B4B18962E30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32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erif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erif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1C0DC1C-F3B8-4B86-ABB4-9E29CCA8AAD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32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erif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erif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034A783-B981-4A06-89FD-5E0883B4774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32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erif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erif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7EEF2DF-C3E6-427B-ADA7-2574F5F8B44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32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erif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erif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7900A4F-7423-4768-A1DE-F723361049F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32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erif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erif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923D553-122F-4FBF-BC06-B19B241A52F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32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erif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erif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463DFD9-8BC2-4613-B25B-C5CED1FA281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32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erif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erif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B0CE4BE-5DE1-408E-9724-015E7F73EE9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erif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erif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E8D1A48-4B2F-4BBE-86CF-64DE56FD417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erif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erif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B95571F-2712-4F37-9F48-6198C358317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33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Box 1"/>
          <p:cNvSpPr/>
          <p:nvPr/>
        </p:nvSpPr>
        <p:spPr>
          <a:xfrm>
            <a:off x="457200" y="2286000"/>
            <a:ext cx="8229240" cy="255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5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QUANTUM COMMUNICATIONS</a:t>
            </a:r>
            <a:br>
              <a:rPr sz="5400"/>
            </a:br>
            <a:endParaRPr lang="en-US" sz="5400" b="0" u="none" strike="noStrike">
              <a:solidFill>
                <a:srgbClr val="ffffff"/>
              </a:solidFill>
              <a:effectLst/>
              <a:uFillTx/>
              <a:latin typeface="Noto Serif"/>
            </a:endParaRPr>
          </a:p>
        </p:txBody>
      </p:sp>
      <p:sp>
        <p:nvSpPr>
          <p:cNvPr id="62" name="TextBox 2"/>
          <p:cNvSpPr/>
          <p:nvPr/>
        </p:nvSpPr>
        <p:spPr>
          <a:xfrm>
            <a:off x="457200" y="4800600"/>
            <a:ext cx="82292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400" b="0" u="none" strike="noStrike">
                <a:solidFill>
                  <a:srgbClr val="c8c8c8"/>
                </a:solidFill>
                <a:effectLst/>
                <a:uFillTx/>
                <a:latin typeface="Calibri"/>
              </a:rPr>
              <a:t>Master Cybersécurité - Project Presentation</a:t>
            </a:r>
            <a:br>
              <a:rPr sz="2400"/>
            </a:br>
            <a:r>
              <a:rPr lang="en-US" sz="2400" b="0" u="none" strike="noStrike">
                <a:solidFill>
                  <a:srgbClr val="c8c8c8"/>
                </a:solidFill>
                <a:effectLst/>
                <a:uFillTx/>
                <a:latin typeface="Calibri"/>
              </a:rPr>
              <a:t>Securing the Future of Telecommunications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ectangle 1"/>
          <p:cNvSpPr/>
          <p:nvPr/>
        </p:nvSpPr>
        <p:spPr>
          <a:xfrm>
            <a:off x="0" y="0"/>
            <a:ext cx="9143640" cy="91404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4" name="TextBox 2"/>
          <p:cNvSpPr/>
          <p:nvPr/>
        </p:nvSpPr>
        <p:spPr>
          <a:xfrm>
            <a:off x="457200" y="18288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Context &amp; Motivation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65" name="TextBox 3"/>
          <p:cNvSpPr/>
          <p:nvPr/>
        </p:nvSpPr>
        <p:spPr>
          <a:xfrm>
            <a:off x="640080" y="1188720"/>
            <a:ext cx="7863480" cy="521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• RSA/ECC encryption vulnerable to quantum computers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• Q-Day may occur: 2030-2035 (uncertain but possible)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• Current encrypted data at risk: Harvest-Now-Decrypt-Later threat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• Solution: Quantum Key Distribution (QKD) + Post-Quantum Crypto (PQC)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• European leaders: ETSI standards + EuroQCI initiative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• Timeline critical: 2025-2027 deployment window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 1"/>
          <p:cNvSpPr/>
          <p:nvPr/>
        </p:nvSpPr>
        <p:spPr>
          <a:xfrm>
            <a:off x="0" y="0"/>
            <a:ext cx="9143640" cy="91404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7" name="TextBox 2"/>
          <p:cNvSpPr/>
          <p:nvPr/>
        </p:nvSpPr>
        <p:spPr>
          <a:xfrm>
            <a:off x="457200" y="18288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Quantum Fundamentals: Superposition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68" name="TextBox 3"/>
          <p:cNvSpPr/>
          <p:nvPr/>
        </p:nvSpPr>
        <p:spPr>
          <a:xfrm>
            <a:off x="640080" y="1188720"/>
            <a:ext cx="7863480" cy="521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Classical bit: 0 OR 1 (one state at a time)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Quantum bit (Qubit): |ψ⟩ = α|0⟩ + β|1⟩ (both states simultaneously)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Key property: Superposition exists UNTIL measurement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Measurement forces qubit to definite state (0 or 1)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Consequence: Observer cannot determine state without measuring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Cryptographic advantage: Eve's measurement attempt = detectable disturbance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Rectangle 1"/>
          <p:cNvSpPr/>
          <p:nvPr/>
        </p:nvSpPr>
        <p:spPr>
          <a:xfrm>
            <a:off x="0" y="0"/>
            <a:ext cx="9143640" cy="91404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0" name="TextBox 2"/>
          <p:cNvSpPr/>
          <p:nvPr/>
        </p:nvSpPr>
        <p:spPr>
          <a:xfrm>
            <a:off x="457200" y="18288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The No-Cloning Theorem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71" name="TextBox 3"/>
          <p:cNvSpPr/>
          <p:nvPr/>
        </p:nvSpPr>
        <p:spPr>
          <a:xfrm>
            <a:off x="640080" y="1188720"/>
            <a:ext cx="7863480" cy="521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Fundamental principle: IMPOSSIBLE to copy unknown quantum state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Why relevant to cryptography: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  ✗ Spy cannot duplicate photon and send original unchanged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  ✗ Any espionage MUST involve measurement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  ✗ Measurement changes/destroys qubit state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  ✓ This change is DETECTABLE by legitimate parties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Core security guarantee: All eavesdropping attempts = discovered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Rectangle 1"/>
          <p:cNvSpPr/>
          <p:nvPr/>
        </p:nvSpPr>
        <p:spPr>
          <a:xfrm>
            <a:off x="0" y="0"/>
            <a:ext cx="9143640" cy="91404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3" name="TextBox 2"/>
          <p:cNvSpPr/>
          <p:nvPr/>
        </p:nvSpPr>
        <p:spPr>
          <a:xfrm>
            <a:off x="457200" y="18288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Quantum Entanglement (Bell States)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74" name="TextBox 3"/>
          <p:cNvSpPr/>
          <p:nvPr/>
        </p:nvSpPr>
        <p:spPr>
          <a:xfrm>
            <a:off x="640080" y="1188720"/>
            <a:ext cx="7863480" cy="521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Two entangled photons share single indivisible quantum state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Example: |Φ⁺⟩ = (|00⟩ + |11⟩)/√2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Property: Measuring one photon instantly determines other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Non-locality: Correlation works even if photons far apart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Important: No information faster-than-light (respects relativity)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Used in: E91 protocol, MDI-QKD for enhanced security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 1"/>
          <p:cNvSpPr/>
          <p:nvPr/>
        </p:nvSpPr>
        <p:spPr>
          <a:xfrm>
            <a:off x="0" y="0"/>
            <a:ext cx="9143640" cy="91404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6" name="TextBox 2"/>
          <p:cNvSpPr/>
          <p:nvPr/>
        </p:nvSpPr>
        <p:spPr>
          <a:xfrm>
            <a:off x="457200" y="18288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The Harvest-Now-Decrypt-Later Threat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77" name="TextBox 3"/>
          <p:cNvSpPr/>
          <p:nvPr/>
        </p:nvSpPr>
        <p:spPr>
          <a:xfrm>
            <a:off x="640080" y="1188720"/>
            <a:ext cx="7863480" cy="521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TODAY (2024): Adversary collects encrypted data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  • Intercepts TLS/RSA/ECC internet traffic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  • Stores petabytes in secure vault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  • Current encryption appears unbreakable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TOMORROW (2030-2035): Quantum computer becomes viable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  • Shor's algorithm defeats RSA factorization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  • Stored data suddenly becomes readable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IMPACT: Diplomatic secrets, medical records, financial data exposed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Rectangle 1"/>
          <p:cNvSpPr/>
          <p:nvPr/>
        </p:nvSpPr>
        <p:spPr>
          <a:xfrm>
            <a:off x="0" y="0"/>
            <a:ext cx="9143640" cy="91404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9" name="TextBox 2"/>
          <p:cNvSpPr/>
          <p:nvPr/>
        </p:nvSpPr>
        <p:spPr>
          <a:xfrm>
            <a:off x="457200" y="18288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Classical vs Quantum Security Comparison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80" name="TextBox 3"/>
          <p:cNvSpPr/>
          <p:nvPr/>
        </p:nvSpPr>
        <p:spPr>
          <a:xfrm>
            <a:off x="640080" y="1188720"/>
            <a:ext cx="7863480" cy="521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RSA-2048 (Classical):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  • Secure NOW: Yes (2^128 computational effort)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  • Secure with Quantum Computer: NO ✗ (Shor's algorithm)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  • Vulnerable from: ~2030-2035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QKD (Quantum):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  • Secure NOW: Yes (unconditional, physics-based)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  • Secure with Quantum Computer: YES ✓ (violates quantum mechanics)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  • Vulnerable from: Never (protected forever)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Rectangle 1"/>
          <p:cNvSpPr/>
          <p:nvPr/>
        </p:nvSpPr>
        <p:spPr>
          <a:xfrm>
            <a:off x="0" y="0"/>
            <a:ext cx="9143640" cy="91404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2" name="TextBox 2"/>
          <p:cNvSpPr/>
          <p:nvPr/>
        </p:nvSpPr>
        <p:spPr>
          <a:xfrm>
            <a:off x="457200" y="18288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Recommended Defense Strategy (NIST/ETSI)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83" name="TextBox 3"/>
          <p:cNvSpPr/>
          <p:nvPr/>
        </p:nvSpPr>
        <p:spPr>
          <a:xfrm>
            <a:off x="640080" y="1188720"/>
            <a:ext cx="7863480" cy="521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2024-2025: IMMEDIATE PHASE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  • Deploy QKD for critical channels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  • Evaluate Post-Quantum Cryptography (Kyber/Dilithium)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2025-2027: TRANSITION PHASE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  • Hybrid: Use both QKD + PQC (defense in depth)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  • Begin archiving sensitive &gt;30Y data with QKD keys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2027-2030: CONSOLIDATION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  • Post-quantum standard everywhere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  • QKD specialized for ultra-sensitive data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Rectangle 1"/>
          <p:cNvSpPr/>
          <p:nvPr/>
        </p:nvSpPr>
        <p:spPr>
          <a:xfrm>
            <a:off x="0" y="0"/>
            <a:ext cx="9143640" cy="91404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5" name="TextBox 2"/>
          <p:cNvSpPr/>
          <p:nvPr/>
        </p:nvSpPr>
        <p:spPr>
          <a:xfrm>
            <a:off x="457200" y="18288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BB84 Protocol (Bennett-Brassard 1984)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86" name="TextBox 3"/>
          <p:cNvSpPr/>
          <p:nvPr/>
        </p:nvSpPr>
        <p:spPr>
          <a:xfrm>
            <a:off x="640080" y="1188720"/>
            <a:ext cx="7863480" cy="521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First practical QKD protocol - still widely deployed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Goal: Securely distribute encryption keys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Process: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  1. Alice: Generate random bits + random bases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  2. Alice: Encode bits in photons using bases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  3. Alice: Send photons to Bob over quantum channel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  4. Bob: Measure photons with random bases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Rectangle 1"/>
          <p:cNvSpPr/>
          <p:nvPr/>
        </p:nvSpPr>
        <p:spPr>
          <a:xfrm>
            <a:off x="0" y="0"/>
            <a:ext cx="9143640" cy="91404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8" name="TextBox 2"/>
          <p:cNvSpPr/>
          <p:nvPr/>
        </p:nvSpPr>
        <p:spPr>
          <a:xfrm>
            <a:off x="457200" y="18288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BB84: Detailed Protocol Flow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89" name="TextBox 3"/>
          <p:cNvSpPr/>
          <p:nvPr/>
        </p:nvSpPr>
        <p:spPr>
          <a:xfrm>
            <a:off x="640080" y="1188720"/>
            <a:ext cx="7863480" cy="521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SETUP: Alice generates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  Bits:   0 1 0 0 1 1 0 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  Bases:  + × + × × + × +  (+ = rectilinear, × = diagonal)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TRANSMISSION: Alice sends 8 photons to Bob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BOB MEASURES: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  His bases: × + + × + × + ×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  Results:   1 1 0 0 1 ? 0 1  (? = wrong base = random)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SIFTING: Keep only positions where bases match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  Final key: 0001 (50% of transmitted bits retained)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Rectangle 1"/>
          <p:cNvSpPr/>
          <p:nvPr/>
        </p:nvSpPr>
        <p:spPr>
          <a:xfrm>
            <a:off x="0" y="0"/>
            <a:ext cx="9143640" cy="91404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1" name="TextBox 2"/>
          <p:cNvSpPr/>
          <p:nvPr/>
        </p:nvSpPr>
        <p:spPr>
          <a:xfrm>
            <a:off x="457200" y="18288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Eavesdropping Detection in BB84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92" name="TextBox 3"/>
          <p:cNvSpPr/>
          <p:nvPr/>
        </p:nvSpPr>
        <p:spPr>
          <a:xfrm>
            <a:off x="640080" y="1188720"/>
            <a:ext cx="7863480" cy="521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Eve attempts to intercept: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  • Doesn't know Alice's bases (guesses 50%)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  • When Eve guesses wrong: Qubit state CHANGES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  • Bob receives corrupted photon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Detection via Quantum Bit Error Rate (QBER):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  • No eavesdropping: QBER ≈ 1% (measurement noise)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  • Complete eavesdropping: QBER ≈ 25%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  • ETSI threshold: QBER &gt; 11% → ABORT SESSION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Logical guarantee: No spy can escape undetected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Rectangle 1"/>
          <p:cNvSpPr/>
          <p:nvPr/>
        </p:nvSpPr>
        <p:spPr>
          <a:xfrm>
            <a:off x="0" y="0"/>
            <a:ext cx="9143640" cy="91404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4" name="TextBox 2"/>
          <p:cNvSpPr/>
          <p:nvPr/>
        </p:nvSpPr>
        <p:spPr>
          <a:xfrm>
            <a:off x="457200" y="18288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BB84 Security Properties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95" name="TextBox 3"/>
          <p:cNvSpPr/>
          <p:nvPr/>
        </p:nvSpPr>
        <p:spPr>
          <a:xfrm>
            <a:off x="640080" y="1188720"/>
            <a:ext cx="7863480" cy="506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(+)Unconditional Security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  Based on quantum physics laws, not math complexity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  Remains secure even with quantum computers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(+)Eavesdropping Detection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  Any spy caught with high probability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  Uncertainty principle guarantees disturbance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(-)Authentication Required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  Need secure channel for protocol messages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  Currently RSA-based (2024-2026)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  <a:ea typeface="Noto Sans"/>
              </a:rPr>
              <a:t> </a:t>
            </a: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(-)Practical Limitations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  Distance: ~100 km in fiber | Key rate: ~1 kbps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Rectangle 1"/>
          <p:cNvSpPr/>
          <p:nvPr/>
        </p:nvSpPr>
        <p:spPr>
          <a:xfrm>
            <a:off x="0" y="0"/>
            <a:ext cx="9143640" cy="91404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7" name="TextBox 2"/>
          <p:cNvSpPr/>
          <p:nvPr/>
        </p:nvSpPr>
        <p:spPr>
          <a:xfrm>
            <a:off x="457200" y="18288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Modern QKD Protocols: Evolution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98" name="TextBox 3"/>
          <p:cNvSpPr/>
          <p:nvPr/>
        </p:nvSpPr>
        <p:spPr>
          <a:xfrm>
            <a:off x="640080" y="1188720"/>
            <a:ext cx="7863480" cy="521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DECOY-STATE QKD (Improves BB84):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  • Problem: Real lasers emit multiple photons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  • Solution: Mix real states + dummy 'decoy' states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  • Benefit: Enables commercial laser sources (lower cost)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TWIN-FIELD QKD (TF-QKD):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  • Problem: Distance limited ~100 km (fiber attenuation)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  • Solution: Photons sent from both ends → interfere at midpoint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  • Benefit: Distance 500+ km | Rate 4 Mbps (lab)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  • Status: Cutting-edge research (2024-2026)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Rectangle 1"/>
          <p:cNvSpPr/>
          <p:nvPr/>
        </p:nvSpPr>
        <p:spPr>
          <a:xfrm>
            <a:off x="0" y="0"/>
            <a:ext cx="9143640" cy="91404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0" name="TextBox 2"/>
          <p:cNvSpPr/>
          <p:nvPr/>
        </p:nvSpPr>
        <p:spPr>
          <a:xfrm>
            <a:off x="457200" y="18288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QKD Protocols Comparison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101" name="TextBox 3"/>
          <p:cNvSpPr/>
          <p:nvPr/>
        </p:nvSpPr>
        <p:spPr>
          <a:xfrm>
            <a:off x="640080" y="1188720"/>
            <a:ext cx="7863480" cy="521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BB84: Simple implementation | 100 km range | 1 kbps rate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  → Currently deployed in industry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E91: Entanglement-based | Same range | 0.1 kbps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  → Theoretical advantages, research focus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MDI-QKD: Device-independent | 200+ km | 0.01 kbps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  → Ultimate security, practical limitations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TF-QKD: Twin-field | 500+ km | 4 Mbps (lab)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  → Future production likely 2025-2027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Rectangle 1"/>
          <p:cNvSpPr/>
          <p:nvPr/>
        </p:nvSpPr>
        <p:spPr>
          <a:xfrm>
            <a:off x="0" y="0"/>
            <a:ext cx="9143640" cy="91404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3" name="TextBox 2"/>
          <p:cNvSpPr/>
          <p:nvPr/>
        </p:nvSpPr>
        <p:spPr>
          <a:xfrm>
            <a:off x="457200" y="18288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NIST PQC Standardization (2022)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104" name="TextBox 3"/>
          <p:cNvSpPr/>
          <p:nvPr/>
        </p:nvSpPr>
        <p:spPr>
          <a:xfrm>
            <a:off x="640080" y="1188720"/>
            <a:ext cx="7863480" cy="521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Selected quantum-resistant algorithms: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ENCRYPTION (Key Encapsulation):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  ✓ CRYSTALS-Kyber - Lattice-based, practical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DIGITAL SIGNATURES: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  ✓ CRYSTALS-Dilithium - Lattice-based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  ✓ SPHINCS+ - Hash-based (conservative)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  ✓ FALCON - Ultra-compact lattice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Timeline: Migration 2025-2027 for critical systems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Rectangle 1"/>
          <p:cNvSpPr/>
          <p:nvPr/>
        </p:nvSpPr>
        <p:spPr>
          <a:xfrm>
            <a:off x="0" y="0"/>
            <a:ext cx="9143640" cy="91404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6" name="TextBox 2"/>
          <p:cNvSpPr/>
          <p:nvPr/>
        </p:nvSpPr>
        <p:spPr>
          <a:xfrm>
            <a:off x="457200" y="18288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Defense in Depth: QKD + PQC Integration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107" name="TextBox 3"/>
          <p:cNvSpPr/>
          <p:nvPr/>
        </p:nvSpPr>
        <p:spPr>
          <a:xfrm>
            <a:off x="640080" y="1188720"/>
            <a:ext cx="7863480" cy="521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WHY BOTH?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  • QKD = unconditional security (physics)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  • PQC = post-quantum proof (mathematics)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HYBRID APPROACH: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  Message encrypted: AES-256(K_combined)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  K_combined = K_QKD ⊕ K_PQC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ADVANTAGES: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  • QKD compromised? → PQC still protects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  • PQC broken? → QKD still protects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  • Better than relying on single mechanism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Rectangle 1"/>
          <p:cNvSpPr/>
          <p:nvPr/>
        </p:nvSpPr>
        <p:spPr>
          <a:xfrm>
            <a:off x="0" y="0"/>
            <a:ext cx="9143640" cy="91404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9" name="TextBox 2"/>
          <p:cNvSpPr/>
          <p:nvPr/>
        </p:nvSpPr>
        <p:spPr>
          <a:xfrm>
            <a:off x="457200" y="18288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QKD Network Topologies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110" name="TextBox 3"/>
          <p:cNvSpPr/>
          <p:nvPr/>
        </p:nvSpPr>
        <p:spPr>
          <a:xfrm>
            <a:off x="640080" y="1188720"/>
            <a:ext cx="7863480" cy="521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POINT-TO-POINT: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  Alice ↔ Bob | Simple but no scalability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STAR TOPOLOGY: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  Central Hub ↔ Multiple nodes | Scalable, single point of failure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MESH TOPOLOGY: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  All nodes interconnected | Robust, complex management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CURRENT DEPLOYMENT: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  Most use Star (compromise 2024-2026)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  Future: Transition to Mesh for critical infrastructure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Rectangle 1"/>
          <p:cNvSpPr/>
          <p:nvPr/>
        </p:nvSpPr>
        <p:spPr>
          <a:xfrm>
            <a:off x="0" y="0"/>
            <a:ext cx="9143640" cy="91404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2" name="TextBox 2"/>
          <p:cNvSpPr/>
          <p:nvPr/>
        </p:nvSpPr>
        <p:spPr>
          <a:xfrm>
            <a:off x="457200" y="18288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Transmission Channels: Fiber vs Space-Free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113" name="TextBox 3"/>
          <p:cNvSpPr/>
          <p:nvPr/>
        </p:nvSpPr>
        <p:spPr>
          <a:xfrm>
            <a:off x="640080" y="1188720"/>
            <a:ext cx="7863480" cy="521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FIBER OPTIC (Terrestrial):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  ✓ Reuses telecom infrastructure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  ✓ 100 km range typical (attenuation 0.2 dB/km)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  ✓ Primary for urban/regional networks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SPACE-FREE (Satellite):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  ✓ Global coverage without physical infrastructure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  ✗ Weather dependent (clouds block signals)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  ✗ Low throughput (~100 bps from Micius satellite)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HYBRID (Best approach):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  Fiber backbone for high-speed urban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  Satellite bridges for long-distance/intercontinental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Rectangle 1"/>
          <p:cNvSpPr/>
          <p:nvPr/>
        </p:nvSpPr>
        <p:spPr>
          <a:xfrm>
            <a:off x="0" y="0"/>
            <a:ext cx="9143640" cy="91404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5" name="TextBox 2"/>
          <p:cNvSpPr/>
          <p:nvPr/>
        </p:nvSpPr>
        <p:spPr>
          <a:xfrm>
            <a:off x="457200" y="18288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Quantum Network Components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116" name="TextBox 3"/>
          <p:cNvSpPr/>
          <p:nvPr/>
        </p:nvSpPr>
        <p:spPr>
          <a:xfrm>
            <a:off x="640080" y="1188720"/>
            <a:ext cx="7863480" cy="521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PHOTON SOURCE: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  • Laser or entangled photon sources (SPDC)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  • Produces quantum states for transmission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TRANSMISSION CHANNEL: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  • Fiber optic (100 km typical)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  • Attenuation: 50% loss per 5 km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DETECTOR: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  • Single-Photon Avalanche Diodes (SPAD)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  • Efficiency: 50-85%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  • Dark noise: 100-10,000 counts/s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QUANTUM REPEATER (Future):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  • Extends range to 500+ km | Status: Lab only (2024)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Rectangle 1"/>
          <p:cNvSpPr/>
          <p:nvPr/>
        </p:nvSpPr>
        <p:spPr>
          <a:xfrm>
            <a:off x="0" y="0"/>
            <a:ext cx="9143640" cy="91404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8" name="TextBox 2"/>
          <p:cNvSpPr/>
          <p:nvPr/>
        </p:nvSpPr>
        <p:spPr>
          <a:xfrm>
            <a:off x="457200" y="18288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Real-World QKD Deployments (2024)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119" name="TextBox 3"/>
          <p:cNvSpPr/>
          <p:nvPr/>
        </p:nvSpPr>
        <p:spPr>
          <a:xfrm>
            <a:off x="640080" y="1188720"/>
            <a:ext cx="7863480" cy="521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EUROPE: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  • Switzerland: Genève-CERN fiber network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  • Netherlands: EuroQCI backbone planning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  • Germany: Electricity grid pilots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ASIA: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  • China: Jinan (10 nodes) + Micius satellite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  • Japan: Tokyo metropolitan trials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NORTH AMERICA: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  • USA: Chicago Quantum Exchange network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  • Canada: Secure communications pilots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COMMERCIAL VENDORS: ID Quantique, Toshiba, Huawei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Rectangle 1"/>
          <p:cNvSpPr/>
          <p:nvPr/>
        </p:nvSpPr>
        <p:spPr>
          <a:xfrm>
            <a:off x="0" y="0"/>
            <a:ext cx="9143640" cy="91404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1" name="TextBox 2"/>
          <p:cNvSpPr/>
          <p:nvPr/>
        </p:nvSpPr>
        <p:spPr>
          <a:xfrm>
            <a:off x="457200" y="18288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Finance Sector: Banking Networks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122" name="TextBox 3"/>
          <p:cNvSpPr/>
          <p:nvPr/>
        </p:nvSpPr>
        <p:spPr>
          <a:xfrm>
            <a:off x="640080" y="1188720"/>
            <a:ext cx="7863480" cy="521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WHY DEPLOY QKD: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  • Transaction keys: 5-30 year confidentiality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  • Customer data: 30-50 years (PII retention)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  • Strategic secrets: 50+ years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REGULATION: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  • Basel III: Secure communications mandatory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  • Future: Post-quantum proof ~2027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DEPLOYMENT: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  • SWIFT pilots (2023-2024): 10+ banks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  • Production rollout: 2025+ planned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  • Goal: 50% major banks by 2028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Rectangle 1"/>
          <p:cNvSpPr/>
          <p:nvPr/>
        </p:nvSpPr>
        <p:spPr>
          <a:xfrm>
            <a:off x="0" y="0"/>
            <a:ext cx="9143640" cy="91404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4" name="TextBox 2"/>
          <p:cNvSpPr/>
          <p:nvPr/>
        </p:nvSpPr>
        <p:spPr>
          <a:xfrm>
            <a:off x="457200" y="18288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Critical Infrastructure: Power Grid SCADA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125" name="TextBox 3"/>
          <p:cNvSpPr/>
          <p:nvPr/>
        </p:nvSpPr>
        <p:spPr>
          <a:xfrm>
            <a:off x="640080" y="1188720"/>
            <a:ext cx="7863480" cy="521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CURRENT THREAT: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  • Remote SCADA access via RDP/SSH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  • Credential compromise = regional blackout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  • RSA compromise = all sessions readable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QKD SOLUTION: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  Commands encrypted: AES-256(K_QKD)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  Re-key hourly | Any decryption = detected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DEPLOYMENTS: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  • USA: NIST GridEx resilience tests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  • Germany: Pre-deployment planning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  • Japan: Post-Fukushima resilience initiative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Rectangle 1"/>
          <p:cNvSpPr/>
          <p:nvPr/>
        </p:nvSpPr>
        <p:spPr>
          <a:xfrm>
            <a:off x="0" y="0"/>
            <a:ext cx="9143640" cy="91404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7" name="TextBox 2"/>
          <p:cNvSpPr/>
          <p:nvPr/>
        </p:nvSpPr>
        <p:spPr>
          <a:xfrm>
            <a:off x="457200" y="18288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Healthcare: GDPR Data Protection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128" name="TextBox 3"/>
          <p:cNvSpPr/>
          <p:nvPr/>
        </p:nvSpPr>
        <p:spPr>
          <a:xfrm>
            <a:off x="640080" y="1188720"/>
            <a:ext cx="7863480" cy="521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SENSITIVE DATA LIFECYCLE: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  • Genetic information: 80+ years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  • Mental health records: 80+ years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  • Diagnoses: 30+ years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  • Lifetime persistence in registries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GDPR EVOLUTION: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  • Current (2024): Breach notification only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  • Future (2027): Proof of 'adequate crypto' required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  • Projected: QKD/PQC mandatory by 2029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IMPLEMENTATION: EHR encrypted AES-256(K_QKD)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Rectangle 1"/>
          <p:cNvSpPr/>
          <p:nvPr/>
        </p:nvSpPr>
        <p:spPr>
          <a:xfrm>
            <a:off x="0" y="0"/>
            <a:ext cx="9143640" cy="91404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0" name="TextBox 2"/>
          <p:cNvSpPr/>
          <p:nvPr/>
        </p:nvSpPr>
        <p:spPr>
          <a:xfrm>
            <a:off x="457200" y="18288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Practical Attacks &amp; Side-Channels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131" name="TextBox 3"/>
          <p:cNvSpPr/>
          <p:nvPr/>
        </p:nvSpPr>
        <p:spPr>
          <a:xfrm>
            <a:off x="640080" y="1188720"/>
            <a:ext cx="7863480" cy="554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6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DETECTOR BLINDNESS: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6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  Eve sends intense photons → saturation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6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  Eve sees all, Bob sees nothing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6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  Fix: MDI-QKD (detector-independent)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6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TIMING ATTACKS: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6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  Processing time varies by qubit state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6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  Eve measures delay patterns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6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  Fix: Constant-time randomization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6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ELECTROMAGNETIC SIDE-CHANNEL: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6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  Power consumption reveals computation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6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  Eve with nearby radio receiver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6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  Fix: EM shielding + randomization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Rectangle 1"/>
          <p:cNvSpPr/>
          <p:nvPr/>
        </p:nvSpPr>
        <p:spPr>
          <a:xfrm>
            <a:off x="0" y="0"/>
            <a:ext cx="9143640" cy="91404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3" name="TextBox 2"/>
          <p:cNvSpPr/>
          <p:nvPr/>
        </p:nvSpPr>
        <p:spPr>
          <a:xfrm>
            <a:off x="457200" y="18288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Authentication Challenge: MITM Prevention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134" name="TextBox 3"/>
          <p:cNvSpPr/>
          <p:nvPr/>
        </p:nvSpPr>
        <p:spPr>
          <a:xfrm>
            <a:off x="640080" y="1188720"/>
            <a:ext cx="7863480" cy="521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THE CIRCULAR DEPENDENCY: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  QKD distributes secure keys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  BUT QKD itself needs authentication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  But authentication needs crypto... (circular!)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CURRENT SOLUTION (2024-2026):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  • Pre-shared RSA certificates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  • Out-of-band authentication (phone calls)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  • Infrastructure network-level security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LONG-TERM FIX (2027+):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  • Derive authentication keys from initial QKD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  • Symmetric authentication (no PKI)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Rectangle 1"/>
          <p:cNvSpPr/>
          <p:nvPr/>
        </p:nvSpPr>
        <p:spPr>
          <a:xfrm>
            <a:off x="0" y="0"/>
            <a:ext cx="9143640" cy="91404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6" name="TextBox 2"/>
          <p:cNvSpPr/>
          <p:nvPr/>
        </p:nvSpPr>
        <p:spPr>
          <a:xfrm>
            <a:off x="457200" y="18288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Security Comparison: Q-Day Impact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137" name="TextBox 3"/>
          <p:cNvSpPr/>
          <p:nvPr/>
        </p:nvSpPr>
        <p:spPr>
          <a:xfrm>
            <a:off x="640080" y="1188720"/>
            <a:ext cx="7863480" cy="521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CLASSICAL ENCRYPTION (RSA):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  2024: SECURE ✓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  2030: BROKEN ✗ (Q-Day, ~10M quantum qubits)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  Data encrypted 2020-2024: Vulnerable NOW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QUANTUM KEY DISTRIBUTION: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  2024: SECURE ✓ (physics-based)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  2030: STILL SECURE ✓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  2030+: STILL SECURE ✓ (forever)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WHY QKD SURVIVES: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  Security = Physics (no-cloning law)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  Quantum computers cannot violate no-cloning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Rectangle 1"/>
          <p:cNvSpPr/>
          <p:nvPr/>
        </p:nvSpPr>
        <p:spPr>
          <a:xfrm>
            <a:off x="0" y="0"/>
            <a:ext cx="9143640" cy="91404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9" name="TextBox 2"/>
          <p:cNvSpPr/>
          <p:nvPr/>
        </p:nvSpPr>
        <p:spPr>
          <a:xfrm>
            <a:off x="457200" y="18288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Technical Challenges &amp; Solutions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140" name="TextBox 3"/>
          <p:cNvSpPr/>
          <p:nvPr/>
        </p:nvSpPr>
        <p:spPr>
          <a:xfrm>
            <a:off x="640080" y="1188720"/>
            <a:ext cx="7863480" cy="554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6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DISTANCE PROBLEM: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6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  • Fiber attenuation: 0.2 dB/km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6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  • 100 km = only 1/5000 photons reach destination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6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  • Solution: Quantum repeaters (for 500+ km)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6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THROUGHPUT PROBLEM: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6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  • BB84: ~1 kbps maximum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6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  • Finance needs: 1-100 kbps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6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  • Solution: Twin-Field QKD (4 Mbps lab)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6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COST PROBLEM: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6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  • 2024: €180K/km (boutique)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6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  • 2028: €40K/km (moderate scale)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6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  • 2030: €20K/km (commodity)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Rectangle 1"/>
          <p:cNvSpPr/>
          <p:nvPr/>
        </p:nvSpPr>
        <p:spPr>
          <a:xfrm>
            <a:off x="0" y="0"/>
            <a:ext cx="9143640" cy="91404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2" name="TextBox 2"/>
          <p:cNvSpPr/>
          <p:nvPr/>
        </p:nvSpPr>
        <p:spPr>
          <a:xfrm>
            <a:off x="457200" y="18288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Standards: ETSI, NIST, ISO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143" name="TextBox 3"/>
          <p:cNvSpPr/>
          <p:nvPr/>
        </p:nvSpPr>
        <p:spPr>
          <a:xfrm>
            <a:off x="640080" y="1188720"/>
            <a:ext cx="7863480" cy="506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ETSI (European Telecommunications Standards):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  ✓ GS QKD 001-004 published | Architecture, security proofs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NIST (USA):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  ✓ PQC Standardization FIPS 203-205 (2022)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  ✓ Timeline: 2025-2027 adoption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ISO/IEC: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  Quantum cryptography standards in development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  ✓ 30551 (QKD) | 23917 (PQC requirements)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GOAL: Convergence on 2-3 interoperable standards by 2026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Rectangle 1"/>
          <p:cNvSpPr/>
          <p:nvPr/>
        </p:nvSpPr>
        <p:spPr>
          <a:xfrm>
            <a:off x="0" y="0"/>
            <a:ext cx="9143640" cy="91404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5" name="TextBox 2"/>
          <p:cNvSpPr/>
          <p:nvPr/>
        </p:nvSpPr>
        <p:spPr>
          <a:xfrm>
            <a:off x="457200" y="18288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Global QKD Deployment Roadmap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146" name="TextBox 3"/>
          <p:cNvSpPr/>
          <p:nvPr/>
        </p:nvSpPr>
        <p:spPr>
          <a:xfrm>
            <a:off x="640080" y="1188720"/>
            <a:ext cx="7863480" cy="521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2024-2025: INITIAL PHASE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  Pilots: Banking, government | 10-20 cities | 50-100 km range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2025-2027: RAPID EXPANSION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  Standards finalized | 100+ cities | Production repeaters viable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2027-2030: CONSOLIDATION (CRITICAL!)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  Q-Day threat window opening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  Archive re-encryption NOW or lose data protection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  Hybrid QKD+PQC mandatory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2030-2035: MATURE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  Continental QKD networks | Quantum computers real threat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Rectangle 1"/>
          <p:cNvSpPr/>
          <p:nvPr/>
        </p:nvSpPr>
        <p:spPr>
          <a:xfrm>
            <a:off x="0" y="0"/>
            <a:ext cx="9143640" cy="91404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8" name="TextBox 2"/>
          <p:cNvSpPr/>
          <p:nvPr/>
        </p:nvSpPr>
        <p:spPr>
          <a:xfrm>
            <a:off x="457200" y="18288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Recommended Strategy for France/EU (2024-2026)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149" name="TextBox 3"/>
          <p:cNvSpPr/>
          <p:nvPr/>
        </p:nvSpPr>
        <p:spPr>
          <a:xfrm>
            <a:off x="640080" y="1188720"/>
            <a:ext cx="7863480" cy="521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IMMEDIATE ACTIONS: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  • Budget: €50-100M for quantum research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  • Deploy 2 urban QKD pilots (Paris-Lyon backbone)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  • Lead ETSI standardization efforts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MEDIUM-TERM (2025-2027):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  • National QKD strategy + PQC transition roadmap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  • Train 5,000+ quantum engineers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  • Archive sensitive data re-encryption program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BUDGET: €300-500M total (2024-2027)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COMPETITIVE DISADVANTAGE if delayed beyond 2025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Rectangle 1"/>
          <p:cNvSpPr/>
          <p:nvPr/>
        </p:nvSpPr>
        <p:spPr>
          <a:xfrm>
            <a:off x="0" y="0"/>
            <a:ext cx="9143640" cy="91404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1" name="TextBox 2"/>
          <p:cNvSpPr/>
          <p:nvPr/>
        </p:nvSpPr>
        <p:spPr>
          <a:xfrm>
            <a:off x="457200" y="18288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Key Takeaways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152" name="TextBox 3"/>
          <p:cNvSpPr/>
          <p:nvPr/>
        </p:nvSpPr>
        <p:spPr>
          <a:xfrm>
            <a:off x="640080" y="1188720"/>
            <a:ext cx="7863480" cy="521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✓ Quantum computers will threaten RSA by 2030-2035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✓ Current encrypted data at lifetime risk without QKD/PQC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✓ BB84 QKD = unconditional security (physics-based)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✓ Eavesdropping = always detected (No-cloning theorem)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✓ Hybrid approach (QKD + PQC) = defense in depth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✓ 2025-2027 = critical deployment window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✓ Delay after 2027 = security debt + regulatory penalties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33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TextBox 1"/>
          <p:cNvSpPr/>
          <p:nvPr/>
        </p:nvSpPr>
        <p:spPr>
          <a:xfrm>
            <a:off x="457200" y="2286000"/>
            <a:ext cx="822924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5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Questions ?</a:t>
            </a:r>
            <a:endParaRPr lang="en-US" sz="5400" b="0" u="none" strike="noStrike">
              <a:solidFill>
                <a:srgbClr val="ffffff"/>
              </a:solidFill>
              <a:effectLst/>
              <a:uFillTx/>
              <a:latin typeface="Noto Serif"/>
            </a:endParaRPr>
          </a:p>
        </p:txBody>
      </p:sp>
      <p:sp>
        <p:nvSpPr>
          <p:cNvPr id="154" name="TextBox 2"/>
          <p:cNvSpPr/>
          <p:nvPr/>
        </p:nvSpPr>
        <p:spPr>
          <a:xfrm>
            <a:off x="457200" y="3840480"/>
            <a:ext cx="8229240" cy="11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400" b="0" u="none" strike="noStrike">
                <a:solidFill>
                  <a:srgbClr val="c8c8c8"/>
                </a:solidFill>
                <a:effectLst/>
                <a:uFillTx/>
                <a:latin typeface="Calibri"/>
              </a:rPr>
              <a:t>Thank you for your attention!</a:t>
            </a:r>
            <a:br>
              <a:rPr sz="2400"/>
            </a:br>
            <a:br>
              <a:rPr sz="2400"/>
            </a:br>
            <a:r>
              <a:rPr lang="en-US" sz="2400" b="0" u="none" strike="noStrike">
                <a:solidFill>
                  <a:srgbClr val="c8c8c8"/>
                </a:solidFill>
                <a:effectLst/>
                <a:uFillTx/>
                <a:latin typeface="Calibri"/>
              </a:rPr>
              <a:t>Presentation: Quantum Communications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Rectangle 1"/>
          <p:cNvSpPr/>
          <p:nvPr/>
        </p:nvSpPr>
        <p:spPr>
          <a:xfrm>
            <a:off x="0" y="0"/>
            <a:ext cx="9143640" cy="91404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6" name="TextBox 2"/>
          <p:cNvSpPr/>
          <p:nvPr/>
        </p:nvSpPr>
        <p:spPr>
          <a:xfrm>
            <a:off x="457200" y="18288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References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157" name="TextBox 3"/>
          <p:cNvSpPr/>
          <p:nvPr/>
        </p:nvSpPr>
        <p:spPr>
          <a:xfrm>
            <a:off x="640080" y="1188720"/>
            <a:ext cx="7863480" cy="521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Bennett &amp; Brassard (1984). Quantum cryptography: Public key distribution.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Ekert (1991). Quantum cryptography based on Bell's theorem.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Brunner et al. (2014). Bell nonlocality. Rev. Modern Physics, 86(2).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Scarani et al. (2009). The security of practical QKD. Rev. Modern Physics, 81(3).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ETSI (2020-2021). GS QKD 001-004 standards.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NIST (2022). Post-Quantum Cryptography Standardization: FIPS 203-205.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Quantum Internet Alliance: https://www.quantum-internet-alliance.org/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Application>LibreOffice/25.8.5.2$Linux_X86_64 LibreOffice_project/580$Build-2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2026-04-08T21:09:02Z</dcterms:modified>
  <cp:revision>4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